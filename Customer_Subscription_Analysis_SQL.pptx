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06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74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8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78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91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77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2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6103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87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3500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65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20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4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98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&amp; Subscription Analysis using 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151195"/>
            <a:ext cx="5826719" cy="1096899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Name: Pramod Gavade</a:t>
            </a:r>
            <a:endParaRPr dirty="0"/>
          </a:p>
          <a:p>
            <a:r>
              <a:rPr dirty="0" smtClean="0"/>
              <a:t>Date</a:t>
            </a:r>
            <a:r>
              <a:rPr lang="en-US" dirty="0" smtClean="0"/>
              <a:t>: 1</a:t>
            </a:r>
            <a:r>
              <a:rPr lang="en-US" baseline="30000" dirty="0" smtClean="0"/>
              <a:t>st</a:t>
            </a:r>
            <a:r>
              <a:rPr lang="en-US" dirty="0" smtClean="0"/>
              <a:t> May 2025</a:t>
            </a:r>
            <a:endParaRPr dirty="0"/>
          </a:p>
          <a:p>
            <a:r>
              <a:rPr dirty="0"/>
              <a:t>Tools Used: MySQL</a:t>
            </a:r>
          </a:p>
          <a:p>
            <a:r>
              <a:rPr dirty="0"/>
              <a:t>Tables: Customers, Subscriptions, Churn,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Project Objective</a:t>
            </a:r>
          </a:p>
          <a:p>
            <a:r>
              <a:t>2. Database Schema</a:t>
            </a:r>
          </a:p>
          <a:p>
            <a:r>
              <a:t>3. Dataset Overview</a:t>
            </a:r>
          </a:p>
          <a:p>
            <a:r>
              <a:t>4. Business Questions</a:t>
            </a:r>
          </a:p>
          <a:p>
            <a:r>
              <a:t>5. Data Cleaning &amp; Transformation</a:t>
            </a:r>
          </a:p>
          <a:p>
            <a:r>
              <a:t>6. Analysis &amp; Insights</a:t>
            </a:r>
          </a:p>
          <a:p>
            <a:r>
              <a:t>7. Key Queries</a:t>
            </a:r>
          </a:p>
          <a:p>
            <a:r>
              <a:t>8. Conclusion &amp; Future Scope</a:t>
            </a:r>
          </a:p>
          <a:p>
            <a:r>
              <a:t>9.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47273"/>
            <a:ext cx="6347714" cy="3880773"/>
          </a:xfrm>
        </p:spPr>
        <p:txBody>
          <a:bodyPr/>
          <a:lstStyle/>
          <a:p>
            <a:r>
              <a:rPr dirty="0"/>
              <a:t>Analyze customer data for insights on:</a:t>
            </a:r>
          </a:p>
          <a:p>
            <a:r>
              <a:rPr dirty="0" smtClean="0"/>
              <a:t>Customer </a:t>
            </a:r>
            <a:r>
              <a:rPr dirty="0"/>
              <a:t>growth &amp; activity</a:t>
            </a:r>
          </a:p>
          <a:p>
            <a:r>
              <a:rPr dirty="0" smtClean="0"/>
              <a:t>Subscription </a:t>
            </a:r>
            <a:r>
              <a:rPr dirty="0"/>
              <a:t>trends</a:t>
            </a:r>
          </a:p>
          <a:p>
            <a:r>
              <a:rPr dirty="0" smtClean="0"/>
              <a:t>Transaction </a:t>
            </a:r>
            <a:r>
              <a:rPr dirty="0"/>
              <a:t>history</a:t>
            </a:r>
          </a:p>
          <a:p>
            <a:r>
              <a:rPr dirty="0" smtClean="0"/>
              <a:t>Revenue </a:t>
            </a:r>
            <a:r>
              <a:rPr dirty="0"/>
              <a:t>distribution</a:t>
            </a:r>
          </a:p>
          <a:p>
            <a:r>
              <a:rPr dirty="0" smtClean="0"/>
              <a:t>Churn </a:t>
            </a:r>
            <a:r>
              <a:rPr dirty="0"/>
              <a:t>patterns</a:t>
            </a:r>
          </a:p>
          <a:p>
            <a:endParaRPr dirty="0"/>
          </a:p>
          <a:p>
            <a:r>
              <a:rPr dirty="0"/>
              <a:t>Perform data cleaning &amp; transformation for better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412" y="174703"/>
            <a:ext cx="6347713" cy="1320800"/>
          </a:xfrm>
        </p:spPr>
        <p:txBody>
          <a:bodyPr/>
          <a:lstStyle/>
          <a:p>
            <a:r>
              <a:rPr dirty="0"/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3411" y="935464"/>
            <a:ext cx="6347714" cy="2632926"/>
          </a:xfrm>
        </p:spPr>
        <p:txBody>
          <a:bodyPr>
            <a:normAutofit lnSpcReduction="10000"/>
          </a:bodyPr>
          <a:lstStyle/>
          <a:p>
            <a:r>
              <a:rPr dirty="0"/>
              <a:t>ER Diagram:</a:t>
            </a:r>
          </a:p>
          <a:p>
            <a:r>
              <a:rPr dirty="0"/>
              <a:t>Customers (</a:t>
            </a:r>
            <a:r>
              <a:rPr dirty="0" err="1"/>
              <a:t>CustomerID</a:t>
            </a:r>
            <a:r>
              <a:rPr dirty="0"/>
              <a:t>, </a:t>
            </a:r>
            <a:r>
              <a:rPr dirty="0" err="1"/>
              <a:t>FirstName</a:t>
            </a:r>
            <a:r>
              <a:rPr dirty="0"/>
              <a:t>, </a:t>
            </a:r>
            <a:r>
              <a:rPr dirty="0" err="1"/>
              <a:t>LastName</a:t>
            </a:r>
            <a:r>
              <a:rPr dirty="0"/>
              <a:t>, Region, Status, </a:t>
            </a:r>
            <a:r>
              <a:rPr dirty="0" err="1"/>
              <a:t>JoinDate</a:t>
            </a:r>
            <a:r>
              <a:rPr dirty="0"/>
              <a:t>, etc.)</a:t>
            </a:r>
          </a:p>
          <a:p>
            <a:r>
              <a:rPr dirty="0"/>
              <a:t>Subscriptions (</a:t>
            </a:r>
            <a:r>
              <a:rPr dirty="0" err="1"/>
              <a:t>SubscriptionID</a:t>
            </a:r>
            <a:r>
              <a:rPr dirty="0"/>
              <a:t>, </a:t>
            </a:r>
            <a:r>
              <a:rPr dirty="0" err="1"/>
              <a:t>CustomerID</a:t>
            </a:r>
            <a:r>
              <a:rPr dirty="0"/>
              <a:t>, </a:t>
            </a:r>
            <a:r>
              <a:rPr dirty="0" err="1"/>
              <a:t>PlanType</a:t>
            </a:r>
            <a:r>
              <a:rPr dirty="0"/>
              <a:t>, </a:t>
            </a:r>
            <a:r>
              <a:rPr dirty="0" err="1"/>
              <a:t>StartDate</a:t>
            </a:r>
            <a:r>
              <a:rPr dirty="0"/>
              <a:t>, </a:t>
            </a:r>
            <a:r>
              <a:rPr dirty="0" err="1"/>
              <a:t>EndDate</a:t>
            </a:r>
            <a:r>
              <a:rPr dirty="0"/>
              <a:t>)</a:t>
            </a:r>
          </a:p>
          <a:p>
            <a:r>
              <a:rPr dirty="0"/>
              <a:t>Transactions (</a:t>
            </a:r>
            <a:r>
              <a:rPr dirty="0" err="1"/>
              <a:t>TransactionID</a:t>
            </a:r>
            <a:r>
              <a:rPr dirty="0"/>
              <a:t>, </a:t>
            </a:r>
            <a:r>
              <a:rPr dirty="0" err="1"/>
              <a:t>CustomerID</a:t>
            </a:r>
            <a:r>
              <a:rPr dirty="0"/>
              <a:t>, Amount, </a:t>
            </a:r>
            <a:r>
              <a:rPr dirty="0" err="1"/>
              <a:t>TransactionDate</a:t>
            </a:r>
            <a:r>
              <a:rPr dirty="0"/>
              <a:t>, </a:t>
            </a:r>
            <a:r>
              <a:rPr dirty="0" err="1"/>
              <a:t>TransactionType</a:t>
            </a:r>
            <a:r>
              <a:rPr dirty="0"/>
              <a:t>)</a:t>
            </a:r>
          </a:p>
          <a:p>
            <a:r>
              <a:rPr dirty="0"/>
              <a:t>Churn (</a:t>
            </a:r>
            <a:r>
              <a:rPr dirty="0" err="1"/>
              <a:t>CustomerID</a:t>
            </a:r>
            <a:r>
              <a:rPr dirty="0"/>
              <a:t>, Reason)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 descr="A_2D_Entity-Relationship_(ER)_diagram_showcases_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13" y="3725430"/>
            <a:ext cx="6259553" cy="2662652"/>
          </a:xfrm>
          <a:prstGeom prst="rect">
            <a:avLst/>
          </a:prstGeom>
          <a:ln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89" y="1636483"/>
            <a:ext cx="6347714" cy="3880773"/>
          </a:xfrm>
        </p:spPr>
        <p:txBody>
          <a:bodyPr/>
          <a:lstStyle/>
          <a:p>
            <a:r>
              <a:rPr dirty="0"/>
              <a:t>Total Customers: SELECT COUNT(*) FROM customers;</a:t>
            </a:r>
          </a:p>
          <a:p>
            <a:r>
              <a:rPr dirty="0"/>
              <a:t>Total Subscriptions: SELECT COUNT(*) FROM subscriptions;</a:t>
            </a:r>
          </a:p>
          <a:p>
            <a:r>
              <a:rPr dirty="0"/>
              <a:t>Total Transactions: SELECT COUNT(*) FROM transactions;</a:t>
            </a:r>
          </a:p>
          <a:p>
            <a:r>
              <a:rPr dirty="0"/>
              <a:t>Total Churned Customers: SELECT COUNT(*) FROM churn;</a:t>
            </a:r>
          </a:p>
          <a:p>
            <a:endParaRPr dirty="0"/>
          </a:p>
          <a:p>
            <a:r>
              <a:rPr dirty="0"/>
              <a:t>(Optional: include sample data using SELECT * queries.)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70297"/>
            <a:ext cx="6347714" cy="3880773"/>
          </a:xfrm>
        </p:spPr>
        <p:txBody>
          <a:bodyPr/>
          <a:lstStyle/>
          <a:p>
            <a:r>
              <a:rPr dirty="0"/>
              <a:t>How many active customers are there?</a:t>
            </a:r>
          </a:p>
          <a:p>
            <a:r>
              <a:rPr dirty="0"/>
              <a:t>What is the churn rate for annual subscriptions?</a:t>
            </a:r>
          </a:p>
          <a:p>
            <a:r>
              <a:rPr dirty="0"/>
              <a:t>What are the most popular subscription plans?</a:t>
            </a:r>
          </a:p>
          <a:p>
            <a:r>
              <a:rPr dirty="0"/>
              <a:t>How much revenue is generated per region?</a:t>
            </a:r>
          </a:p>
          <a:p>
            <a:r>
              <a:rPr dirty="0"/>
              <a:t>Which customers have the highest spending?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739055" cy="1320800"/>
          </a:xfrm>
        </p:spPr>
        <p:txBody>
          <a:bodyPr/>
          <a:lstStyle/>
          <a:p>
            <a:r>
              <a:rPr dirty="0"/>
              <a:t>Data Cleaning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16206"/>
            <a:ext cx="6347714" cy="4513646"/>
          </a:xfrm>
        </p:spPr>
        <p:txBody>
          <a:bodyPr>
            <a:normAutofit/>
          </a:bodyPr>
          <a:lstStyle/>
          <a:p>
            <a:r>
              <a:rPr dirty="0"/>
              <a:t>Data Type Modifications:</a:t>
            </a:r>
          </a:p>
          <a:p>
            <a:r>
              <a:rPr dirty="0"/>
              <a:t>Converted </a:t>
            </a:r>
            <a:r>
              <a:rPr dirty="0" err="1"/>
              <a:t>JoinDate</a:t>
            </a:r>
            <a:r>
              <a:rPr dirty="0"/>
              <a:t>, </a:t>
            </a:r>
            <a:r>
              <a:rPr dirty="0" err="1"/>
              <a:t>StartDate</a:t>
            </a:r>
            <a:r>
              <a:rPr dirty="0"/>
              <a:t>, and </a:t>
            </a:r>
            <a:r>
              <a:rPr dirty="0" err="1"/>
              <a:t>EndDate</a:t>
            </a:r>
            <a:r>
              <a:rPr dirty="0"/>
              <a:t> to proper DATE formats.</a:t>
            </a:r>
          </a:p>
          <a:p>
            <a:r>
              <a:rPr dirty="0"/>
              <a:t>Example: </a:t>
            </a:r>
            <a:endParaRPr lang="en-US" dirty="0" smtClean="0"/>
          </a:p>
          <a:p>
            <a:pPr marL="0" indent="0">
              <a:buNone/>
            </a:pPr>
            <a:r>
              <a:rPr sz="1600" dirty="0" smtClean="0"/>
              <a:t>ALTER </a:t>
            </a:r>
            <a:r>
              <a:rPr sz="1600" dirty="0"/>
              <a:t>TABLE transactions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MODIFY </a:t>
            </a:r>
            <a:r>
              <a:rPr sz="1600" dirty="0" err="1"/>
              <a:t>TransactionDate</a:t>
            </a:r>
            <a:r>
              <a:rPr sz="1600" dirty="0"/>
              <a:t> DATE;</a:t>
            </a:r>
          </a:p>
          <a:p>
            <a:r>
              <a:rPr dirty="0" smtClean="0"/>
              <a:t>Handling </a:t>
            </a:r>
            <a:r>
              <a:rPr dirty="0"/>
              <a:t>Null Values:</a:t>
            </a:r>
          </a:p>
          <a:p>
            <a:r>
              <a:rPr dirty="0"/>
              <a:t>Set invalid or missing dates to NULL.</a:t>
            </a:r>
          </a:p>
          <a:p>
            <a:r>
              <a:rPr dirty="0"/>
              <a:t>Example: </a:t>
            </a:r>
            <a:endParaRPr lang="en-US" dirty="0" smtClean="0"/>
          </a:p>
          <a:p>
            <a:pPr marL="0" indent="0">
              <a:buNone/>
            </a:pPr>
            <a:r>
              <a:rPr sz="1600" dirty="0" smtClean="0"/>
              <a:t>UPDATE </a:t>
            </a:r>
            <a:r>
              <a:rPr sz="1600" dirty="0"/>
              <a:t>customers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SET </a:t>
            </a:r>
            <a:r>
              <a:rPr sz="1600" dirty="0" err="1"/>
              <a:t>JoinDate</a:t>
            </a:r>
            <a:r>
              <a:rPr sz="1600" dirty="0"/>
              <a:t> = NULL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WHERE </a:t>
            </a:r>
            <a:r>
              <a:rPr sz="1600" dirty="0" err="1"/>
              <a:t>JoinDate</a:t>
            </a:r>
            <a:r>
              <a:rPr sz="1600" dirty="0"/>
              <a:t> IS NULL;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703390"/>
            <a:ext cx="6347714" cy="3880773"/>
          </a:xfrm>
        </p:spPr>
        <p:txBody>
          <a:bodyPr/>
          <a:lstStyle/>
          <a:p>
            <a:r>
              <a:rPr dirty="0"/>
              <a:t>Active customers by region:</a:t>
            </a:r>
          </a:p>
          <a:p>
            <a:pPr marL="0" indent="0">
              <a:buNone/>
            </a:pPr>
            <a:r>
              <a:rPr sz="1600" dirty="0"/>
              <a:t>SELECT region, COUNT(*) AS </a:t>
            </a:r>
            <a:r>
              <a:rPr sz="1600" dirty="0" err="1"/>
              <a:t>customer_count</a:t>
            </a:r>
            <a:r>
              <a:rPr sz="1600" dirty="0"/>
              <a:t>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FROM </a:t>
            </a:r>
            <a:r>
              <a:rPr sz="1600" dirty="0"/>
              <a:t>customers WHERE status = 'active'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GROUP </a:t>
            </a:r>
            <a:r>
              <a:rPr sz="1600" dirty="0"/>
              <a:t>BY region</a:t>
            </a:r>
            <a:r>
              <a:rPr sz="1600" dirty="0" smtClean="0"/>
              <a:t>;</a:t>
            </a:r>
            <a:endParaRPr lang="en-US" sz="1600" dirty="0" smtClean="0"/>
          </a:p>
          <a:p>
            <a:pPr marL="0" indent="0">
              <a:buNone/>
            </a:pPr>
            <a:endParaRPr sz="1600" dirty="0"/>
          </a:p>
          <a:p>
            <a:r>
              <a:rPr dirty="0"/>
              <a:t>New customers in 2022:</a:t>
            </a:r>
          </a:p>
          <a:p>
            <a:pPr marL="0" indent="0">
              <a:buNone/>
            </a:pPr>
            <a:r>
              <a:rPr sz="1600" dirty="0"/>
              <a:t>SELECT COUNT(*) FROM customers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WHERE </a:t>
            </a:r>
            <a:r>
              <a:rPr sz="1600" dirty="0"/>
              <a:t>YEAR(</a:t>
            </a:r>
            <a:r>
              <a:rPr sz="1600" dirty="0" err="1"/>
              <a:t>JoinDate</a:t>
            </a:r>
            <a:r>
              <a:rPr sz="1600" dirty="0"/>
              <a:t>) = 2022;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Subscription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92238"/>
            <a:ext cx="6347714" cy="3880773"/>
          </a:xfrm>
        </p:spPr>
        <p:txBody>
          <a:bodyPr/>
          <a:lstStyle/>
          <a:p>
            <a:r>
              <a:rPr dirty="0"/>
              <a:t>Plan distribution:</a:t>
            </a:r>
          </a:p>
          <a:p>
            <a:pPr marL="0" indent="0">
              <a:buNone/>
            </a:pPr>
            <a:r>
              <a:rPr sz="1600" dirty="0"/>
              <a:t>SELECT </a:t>
            </a:r>
            <a:r>
              <a:rPr sz="1600" dirty="0" err="1"/>
              <a:t>PlanType</a:t>
            </a:r>
            <a:r>
              <a:rPr sz="1600" dirty="0"/>
              <a:t>, COUNT(*) AS </a:t>
            </a:r>
            <a:r>
              <a:rPr sz="1600" dirty="0" err="1"/>
              <a:t>plan_type_count</a:t>
            </a:r>
            <a:r>
              <a:rPr sz="1600" dirty="0"/>
              <a:t>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FROM </a:t>
            </a:r>
            <a:r>
              <a:rPr sz="1600" dirty="0"/>
              <a:t>subscriptions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GROUP </a:t>
            </a:r>
            <a:r>
              <a:rPr sz="1600" dirty="0"/>
              <a:t>BY </a:t>
            </a:r>
            <a:r>
              <a:rPr sz="1600" dirty="0" err="1"/>
              <a:t>PlanType</a:t>
            </a:r>
            <a:r>
              <a:rPr sz="1600" dirty="0" smtClean="0"/>
              <a:t>;</a:t>
            </a:r>
            <a:endParaRPr lang="en-US" sz="1600" dirty="0" smtClean="0"/>
          </a:p>
          <a:p>
            <a:pPr marL="0" indent="0">
              <a:buNone/>
            </a:pPr>
            <a:endParaRPr sz="1600" dirty="0"/>
          </a:p>
          <a:p>
            <a:r>
              <a:rPr dirty="0"/>
              <a:t>Customers with multiple subscriptions:</a:t>
            </a:r>
          </a:p>
          <a:p>
            <a:pPr marL="0" indent="0">
              <a:buNone/>
            </a:pPr>
            <a:r>
              <a:rPr sz="1600" dirty="0"/>
              <a:t>SELECT </a:t>
            </a:r>
            <a:r>
              <a:rPr sz="1600" dirty="0" err="1"/>
              <a:t>CustomerID</a:t>
            </a:r>
            <a:r>
              <a:rPr sz="1600" dirty="0"/>
              <a:t>, COUNT(</a:t>
            </a:r>
            <a:r>
              <a:rPr sz="1600" dirty="0" err="1"/>
              <a:t>SubscriptionID</a:t>
            </a:r>
            <a:r>
              <a:rPr sz="1600" dirty="0"/>
              <a:t>) AS </a:t>
            </a:r>
            <a:r>
              <a:rPr sz="1600" dirty="0" err="1"/>
              <a:t>subscription_count</a:t>
            </a:r>
            <a:r>
              <a:rPr sz="1600" dirty="0"/>
              <a:t>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FROM </a:t>
            </a:r>
            <a:r>
              <a:rPr sz="1600" dirty="0"/>
              <a:t>subscriptions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GROUP </a:t>
            </a:r>
            <a:r>
              <a:rPr sz="1600" dirty="0"/>
              <a:t>BY </a:t>
            </a:r>
            <a:r>
              <a:rPr sz="1600" dirty="0" err="1"/>
              <a:t>CustomerID</a:t>
            </a:r>
            <a:r>
              <a:rPr sz="1600" dirty="0"/>
              <a:t>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HAVING </a:t>
            </a:r>
            <a:r>
              <a:rPr sz="1600" dirty="0"/>
              <a:t>COUNT(</a:t>
            </a:r>
            <a:r>
              <a:rPr sz="1600" dirty="0" err="1"/>
              <a:t>SubscriptionID</a:t>
            </a:r>
            <a:r>
              <a:rPr sz="1600" dirty="0"/>
              <a:t>) &gt; 1;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960" y="1636483"/>
            <a:ext cx="6347714" cy="3880773"/>
          </a:xfrm>
        </p:spPr>
        <p:txBody>
          <a:bodyPr/>
          <a:lstStyle/>
          <a:p>
            <a:r>
              <a:rPr dirty="0"/>
              <a:t>Average transaction amount:</a:t>
            </a:r>
          </a:p>
          <a:p>
            <a:pPr marL="0" indent="0">
              <a:buNone/>
            </a:pPr>
            <a:r>
              <a:rPr sz="1600" dirty="0"/>
              <a:t>SELECT AVG(amount)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FROM </a:t>
            </a:r>
            <a:r>
              <a:rPr sz="1600" dirty="0"/>
              <a:t>transactions</a:t>
            </a:r>
            <a:r>
              <a:rPr sz="1600" dirty="0" smtClean="0"/>
              <a:t>;</a:t>
            </a:r>
            <a:endParaRPr lang="en-US" sz="1600" dirty="0" smtClean="0"/>
          </a:p>
          <a:p>
            <a:pPr marL="0" indent="0">
              <a:buNone/>
            </a:pPr>
            <a:endParaRPr sz="1600" dirty="0"/>
          </a:p>
          <a:p>
            <a:r>
              <a:rPr dirty="0"/>
              <a:t>Revenue by region:</a:t>
            </a:r>
          </a:p>
          <a:p>
            <a:pPr marL="0" indent="0">
              <a:buNone/>
            </a:pPr>
            <a:r>
              <a:rPr sz="1600" dirty="0"/>
              <a:t>SELECT </a:t>
            </a:r>
            <a:r>
              <a:rPr sz="1600" dirty="0" err="1"/>
              <a:t>c.Region</a:t>
            </a:r>
            <a:r>
              <a:rPr sz="1600" dirty="0"/>
              <a:t>, SUM(</a:t>
            </a:r>
            <a:r>
              <a:rPr sz="1600" dirty="0" err="1"/>
              <a:t>t.amount</a:t>
            </a:r>
            <a:r>
              <a:rPr sz="1600" dirty="0"/>
              <a:t>) AS </a:t>
            </a:r>
            <a:r>
              <a:rPr sz="1600" dirty="0" err="1"/>
              <a:t>Total_Revenue</a:t>
            </a:r>
            <a:r>
              <a:rPr sz="1600" dirty="0"/>
              <a:t>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FROM </a:t>
            </a:r>
            <a:r>
              <a:rPr sz="1600" dirty="0"/>
              <a:t>customers AS c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JOIN </a:t>
            </a:r>
            <a:r>
              <a:rPr sz="1600" dirty="0"/>
              <a:t>transactions AS t ON </a:t>
            </a:r>
            <a:r>
              <a:rPr sz="1600" dirty="0" err="1"/>
              <a:t>c.CustomerID</a:t>
            </a:r>
            <a:r>
              <a:rPr sz="1600" dirty="0"/>
              <a:t> = </a:t>
            </a:r>
            <a:r>
              <a:rPr sz="1600" dirty="0" err="1"/>
              <a:t>t.CustomerID</a:t>
            </a:r>
            <a:r>
              <a:rPr sz="1600" dirty="0"/>
              <a:t>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GROUP </a:t>
            </a:r>
            <a:r>
              <a:rPr sz="1600" dirty="0"/>
              <a:t>BY </a:t>
            </a:r>
            <a:r>
              <a:rPr sz="1600" dirty="0" err="1"/>
              <a:t>c.Region</a:t>
            </a:r>
            <a:r>
              <a:rPr sz="1600" dirty="0"/>
              <a:t>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82752"/>
            <a:ext cx="6347714" cy="4658612"/>
          </a:xfrm>
        </p:spPr>
        <p:txBody>
          <a:bodyPr>
            <a:normAutofit lnSpcReduction="10000"/>
          </a:bodyPr>
          <a:lstStyle/>
          <a:p>
            <a:r>
              <a:rPr dirty="0"/>
              <a:t>Churn reasons distribution:</a:t>
            </a:r>
          </a:p>
          <a:p>
            <a:pPr marL="0" indent="0">
              <a:buNone/>
            </a:pPr>
            <a:r>
              <a:rPr sz="1600" dirty="0"/>
              <a:t>SELECT reason, COUNT(*) AS </a:t>
            </a:r>
            <a:r>
              <a:rPr sz="1600" dirty="0" err="1"/>
              <a:t>churn_count</a:t>
            </a:r>
            <a:r>
              <a:rPr sz="1600" dirty="0"/>
              <a:t>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FROM </a:t>
            </a:r>
            <a:r>
              <a:rPr sz="1600" dirty="0"/>
              <a:t>churn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GROUP </a:t>
            </a:r>
            <a:r>
              <a:rPr sz="1600" dirty="0"/>
              <a:t>BY reason</a:t>
            </a:r>
            <a:r>
              <a:rPr sz="1600" dirty="0" smtClean="0"/>
              <a:t>;</a:t>
            </a:r>
            <a:endParaRPr lang="en-US" sz="1600" dirty="0" smtClean="0"/>
          </a:p>
          <a:p>
            <a:pPr marL="0" indent="0">
              <a:buNone/>
            </a:pPr>
            <a:endParaRPr sz="1600" dirty="0"/>
          </a:p>
          <a:p>
            <a:r>
              <a:rPr dirty="0"/>
              <a:t>Churned annual plan customers:</a:t>
            </a:r>
          </a:p>
          <a:p>
            <a:pPr marL="0" indent="0">
              <a:buNone/>
            </a:pPr>
            <a:r>
              <a:rPr sz="1600" dirty="0" smtClean="0"/>
              <a:t>SELECT </a:t>
            </a:r>
            <a:r>
              <a:rPr sz="1600" dirty="0" err="1" smtClean="0"/>
              <a:t>cu.CustomerID</a:t>
            </a:r>
            <a:r>
              <a:rPr sz="1600" dirty="0" smtClean="0"/>
              <a:t>, </a:t>
            </a:r>
            <a:r>
              <a:rPr sz="1600" dirty="0" err="1" smtClean="0"/>
              <a:t>cu.FirstName</a:t>
            </a:r>
            <a:r>
              <a:rPr sz="1600" dirty="0" smtClean="0"/>
              <a:t>, </a:t>
            </a:r>
            <a:r>
              <a:rPr sz="1600" dirty="0" err="1" smtClean="0"/>
              <a:t>cu.LastName</a:t>
            </a:r>
            <a:r>
              <a:rPr sz="1600" dirty="0" smtClean="0"/>
              <a:t>, COUNT(</a:t>
            </a:r>
            <a:r>
              <a:rPr sz="1600" dirty="0" err="1" smtClean="0"/>
              <a:t>c.CustomerID</a:t>
            </a:r>
            <a:r>
              <a:rPr sz="1600" dirty="0" smtClean="0"/>
              <a:t>) AS </a:t>
            </a:r>
            <a:r>
              <a:rPr sz="1600" dirty="0" err="1" smtClean="0"/>
              <a:t>Churned_Count</a:t>
            </a:r>
            <a:r>
              <a:rPr sz="1600" dirty="0" smtClean="0"/>
              <a:t>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FROM customers cu </a:t>
            </a:r>
            <a:endParaRPr lang="en-US" sz="1600" dirty="0"/>
          </a:p>
          <a:p>
            <a:pPr marL="0" indent="0">
              <a:buNone/>
            </a:pPr>
            <a:r>
              <a:rPr sz="1600" dirty="0" smtClean="0"/>
              <a:t>JOIN subscriptions s ON </a:t>
            </a:r>
            <a:r>
              <a:rPr sz="1600" dirty="0" err="1" smtClean="0"/>
              <a:t>cu.CustomerID</a:t>
            </a:r>
            <a:r>
              <a:rPr sz="1600" dirty="0" smtClean="0"/>
              <a:t> = </a:t>
            </a:r>
            <a:r>
              <a:rPr sz="1600" dirty="0" err="1" smtClean="0"/>
              <a:t>s.CustomerID</a:t>
            </a:r>
            <a:r>
              <a:rPr sz="1600" dirty="0" smtClean="0"/>
              <a:t>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JOIN churn c ON </a:t>
            </a:r>
            <a:r>
              <a:rPr sz="1600" dirty="0" err="1" smtClean="0"/>
              <a:t>c.CustomerID</a:t>
            </a:r>
            <a:r>
              <a:rPr sz="1600" dirty="0" smtClean="0"/>
              <a:t> = </a:t>
            </a:r>
            <a:r>
              <a:rPr sz="1600" dirty="0" err="1" smtClean="0"/>
              <a:t>cu.CustomerID</a:t>
            </a:r>
            <a:r>
              <a:rPr sz="1600" dirty="0" smtClean="0"/>
              <a:t>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WHERE </a:t>
            </a:r>
            <a:r>
              <a:rPr sz="1600" dirty="0" err="1" smtClean="0"/>
              <a:t>s.PlanType</a:t>
            </a:r>
            <a:r>
              <a:rPr sz="1600" dirty="0" smtClean="0"/>
              <a:t> = 'annual' </a:t>
            </a:r>
            <a:endParaRPr lang="en-US" sz="1600" dirty="0" smtClean="0"/>
          </a:p>
          <a:p>
            <a:pPr marL="0" indent="0">
              <a:buNone/>
            </a:pPr>
            <a:r>
              <a:rPr sz="1600" dirty="0" smtClean="0"/>
              <a:t>GROUP BY </a:t>
            </a:r>
            <a:r>
              <a:rPr sz="1600" dirty="0" err="1" smtClean="0"/>
              <a:t>cu.CustomerID</a:t>
            </a:r>
            <a:r>
              <a:rPr sz="1600" dirty="0" smtClean="0"/>
              <a:t>;</a:t>
            </a:r>
            <a:endParaRPr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92238"/>
            <a:ext cx="6347714" cy="3880773"/>
          </a:xfrm>
        </p:spPr>
        <p:txBody>
          <a:bodyPr/>
          <a:lstStyle/>
          <a:p>
            <a:r>
              <a:rPr dirty="0" smtClean="0"/>
              <a:t>Customer </a:t>
            </a:r>
            <a:r>
              <a:rPr dirty="0"/>
              <a:t>Growth: Identified increase in 2022.</a:t>
            </a:r>
          </a:p>
          <a:p>
            <a:r>
              <a:rPr dirty="0" smtClean="0"/>
              <a:t>Subscription </a:t>
            </a:r>
            <a:r>
              <a:rPr dirty="0"/>
              <a:t>Trends: Annual plans most popular.</a:t>
            </a:r>
          </a:p>
          <a:p>
            <a:r>
              <a:rPr dirty="0" smtClean="0"/>
              <a:t>Revenue </a:t>
            </a:r>
            <a:r>
              <a:rPr dirty="0"/>
              <a:t>Distribution: Highest in North America.</a:t>
            </a:r>
          </a:p>
          <a:p>
            <a:r>
              <a:rPr dirty="0" smtClean="0"/>
              <a:t>Churn </a:t>
            </a:r>
            <a:r>
              <a:rPr dirty="0"/>
              <a:t>Patterns: Price was the top reason.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803751"/>
            <a:ext cx="6347714" cy="3880773"/>
          </a:xfrm>
        </p:spPr>
        <p:txBody>
          <a:bodyPr/>
          <a:lstStyle/>
          <a:p>
            <a:r>
              <a:rPr dirty="0" smtClean="0"/>
              <a:t>Insights </a:t>
            </a:r>
            <a:r>
              <a:rPr dirty="0"/>
              <a:t>on behavior, preferences, and revenue.</a:t>
            </a:r>
          </a:p>
          <a:p>
            <a:r>
              <a:rPr dirty="0" smtClean="0"/>
              <a:t>Valuable </a:t>
            </a:r>
            <a:r>
              <a:rPr dirty="0"/>
              <a:t>for strategic decision-making.</a:t>
            </a:r>
          </a:p>
          <a:p>
            <a:r>
              <a:rPr dirty="0" smtClean="0"/>
              <a:t>Limitations</a:t>
            </a:r>
            <a:r>
              <a:rPr dirty="0"/>
              <a:t>: Missing values, transaction inaccuracies.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36483"/>
            <a:ext cx="6347714" cy="3880773"/>
          </a:xfrm>
        </p:spPr>
        <p:txBody>
          <a:bodyPr/>
          <a:lstStyle/>
          <a:p>
            <a:r>
              <a:rPr dirty="0" smtClean="0"/>
              <a:t>Automate </a:t>
            </a:r>
            <a:r>
              <a:rPr dirty="0"/>
              <a:t>data cleaning processes.</a:t>
            </a:r>
          </a:p>
          <a:p>
            <a:r>
              <a:rPr dirty="0" smtClean="0"/>
              <a:t>Use </a:t>
            </a:r>
            <a:r>
              <a:rPr dirty="0"/>
              <a:t>ML models for churn prediction.</a:t>
            </a:r>
          </a:p>
          <a:p>
            <a:r>
              <a:rPr dirty="0" smtClean="0"/>
              <a:t>Optimize </a:t>
            </a:r>
            <a:r>
              <a:rPr dirty="0"/>
              <a:t>SQL query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59146"/>
            <a:ext cx="6347714" cy="3880773"/>
          </a:xfrm>
        </p:spPr>
        <p:txBody>
          <a:bodyPr/>
          <a:lstStyle/>
          <a:p>
            <a:r>
              <a:rPr dirty="0" smtClean="0"/>
              <a:t>Tools </a:t>
            </a:r>
            <a:r>
              <a:rPr dirty="0"/>
              <a:t>Used: MySQL</a:t>
            </a:r>
          </a:p>
          <a:p>
            <a:r>
              <a:rPr dirty="0" smtClean="0"/>
              <a:t>Project </a:t>
            </a:r>
            <a:r>
              <a:rPr dirty="0"/>
              <a:t>Repository: [GitHub Link]</a:t>
            </a:r>
          </a:p>
          <a:p>
            <a:r>
              <a:rPr dirty="0" smtClean="0"/>
              <a:t>Professional </a:t>
            </a:r>
            <a:r>
              <a:rPr dirty="0"/>
              <a:t>Profile: [LinkedIn Link]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/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550020"/>
            <a:ext cx="7274313" cy="1572321"/>
          </a:xfrm>
        </p:spPr>
        <p:txBody>
          <a:bodyPr/>
          <a:lstStyle/>
          <a:p>
            <a:r>
              <a:rPr lang="en-US" dirty="0" smtClean="0"/>
              <a:t>    </a:t>
            </a:r>
            <a:r>
              <a:rPr dirty="0" smtClean="0"/>
              <a:t>Email</a:t>
            </a:r>
            <a:r>
              <a:rPr dirty="0"/>
              <a:t>: </a:t>
            </a:r>
            <a:r>
              <a:rPr dirty="0" smtClean="0"/>
              <a:t>[</a:t>
            </a:r>
            <a:r>
              <a:rPr lang="en-US" dirty="0" smtClean="0"/>
              <a:t>pramodgavade14@yahoo.com</a:t>
            </a:r>
            <a:r>
              <a:rPr dirty="0" smtClean="0"/>
              <a:t>]</a:t>
            </a:r>
            <a:endParaRPr dirty="0"/>
          </a:p>
          <a:p>
            <a:r>
              <a:rPr dirty="0"/>
              <a:t>  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dirty="0" smtClean="0"/>
              <a:t>LinkedIn</a:t>
            </a:r>
            <a:r>
              <a:rPr dirty="0"/>
              <a:t>: </a:t>
            </a:r>
            <a:r>
              <a:rPr sz="1600" dirty="0" smtClean="0"/>
              <a:t>[</a:t>
            </a:r>
            <a:r>
              <a:rPr lang="en-IN" sz="1600" dirty="0"/>
              <a:t>https://</a:t>
            </a:r>
            <a:r>
              <a:rPr lang="en-IN" sz="1600" dirty="0" smtClean="0"/>
              <a:t>www.linkedin.com/in/pramodgavade14</a:t>
            </a:r>
            <a:r>
              <a:rPr sz="1600" dirty="0" smtClean="0"/>
              <a:t>]</a:t>
            </a:r>
            <a:endParaRPr sz="1600" dirty="0"/>
          </a:p>
          <a:p>
            <a:r>
              <a:rPr dirty="0"/>
              <a:t>  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dirty="0" smtClean="0"/>
              <a:t>GitHub</a:t>
            </a:r>
            <a:r>
              <a:rPr dirty="0"/>
              <a:t>: </a:t>
            </a:r>
            <a:r>
              <a:rPr dirty="0" smtClean="0"/>
              <a:t>[</a:t>
            </a:r>
            <a:r>
              <a:rPr lang="en-IN" dirty="0"/>
              <a:t>https://github.com/pramodgavade14</a:t>
            </a:r>
            <a:r>
              <a:rPr dirty="0" smtClean="0"/>
              <a:t>]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603</Words>
  <Application>Microsoft Office PowerPoint</Application>
  <PresentationFormat>On-screen Show (4:3)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Customer &amp; Subscription Analysis using SQL</vt:lpstr>
      <vt:lpstr>Table of Contents</vt:lpstr>
      <vt:lpstr>Project Objective</vt:lpstr>
      <vt:lpstr>Database Schema</vt:lpstr>
      <vt:lpstr>Dataset Overview</vt:lpstr>
      <vt:lpstr>Business Questions</vt:lpstr>
      <vt:lpstr>Data Cleaning &amp; Transformation</vt:lpstr>
      <vt:lpstr>Customer Analysis</vt:lpstr>
      <vt:lpstr>Subscription Analysis</vt:lpstr>
      <vt:lpstr>Transaction Analysis</vt:lpstr>
      <vt:lpstr>Churn Analysis</vt:lpstr>
      <vt:lpstr>Key Findings</vt:lpstr>
      <vt:lpstr>Conclusion</vt:lpstr>
      <vt:lpstr>Future Scope</vt:lpstr>
      <vt:lpstr>References &amp; Tools</vt:lpstr>
      <vt:lpstr>Q&amp;A /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&amp; Subscription Analysis using SQL</dc:title>
  <dc:subject/>
  <dc:creator/>
  <cp:keywords/>
  <dc:description>generated using python-pptx</dc:description>
  <cp:lastModifiedBy>asus</cp:lastModifiedBy>
  <cp:revision>5</cp:revision>
  <dcterms:created xsi:type="dcterms:W3CDTF">2013-01-27T09:14:16Z</dcterms:created>
  <dcterms:modified xsi:type="dcterms:W3CDTF">2025-05-01T14:48:51Z</dcterms:modified>
  <cp:category/>
</cp:coreProperties>
</file>